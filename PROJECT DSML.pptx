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6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5DE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72585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health_beauty</c:v>
                </c:pt>
                <c:pt idx="1">
                  <c:v>watches_gifts</c:v>
                </c:pt>
                <c:pt idx="2">
                  <c:v>bed_bath_table</c:v>
                </c:pt>
                <c:pt idx="3">
                  <c:v>sports_leisure</c:v>
                </c:pt>
                <c:pt idx="4">
                  <c:v>computers_acc</c:v>
                </c:pt>
                <c:pt idx="5">
                  <c:v>furniture_decor</c:v>
                </c:pt>
                <c:pt idx="6">
                  <c:v>cool_stuff</c:v>
                </c:pt>
                <c:pt idx="7">
                  <c:v>housewares</c:v>
                </c:pt>
                <c:pt idx="8">
                  <c:v>auto</c:v>
                </c:pt>
                <c:pt idx="9">
                  <c:v>garden_tools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1259</c:v>
                </c:pt>
                <c:pt idx="1">
                  <c:v>1285</c:v>
                </c:pt>
                <c:pt idx="2">
                  <c:v>1037</c:v>
                </c:pt>
                <c:pt idx="3">
                  <c:v>988</c:v>
                </c:pt>
                <c:pt idx="4">
                  <c:v>912</c:v>
                </c:pt>
                <c:pt idx="5">
                  <c:v>730</c:v>
                </c:pt>
                <c:pt idx="6">
                  <c:v>635</c:v>
                </c:pt>
                <c:pt idx="7">
                  <c:v>632</c:v>
                </c:pt>
                <c:pt idx="8">
                  <c:v>593</c:v>
                </c:pt>
                <c:pt idx="9">
                  <c:v>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A8B8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A8B8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8761515-5877-48db-ab85-d67fe3f50db3}"/>
      </c:ext>
    </c:extLst>
  </c:chart>
  <c:spPr>
    <a:solidFill>
      <a:srgbClr val="0A162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6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5DE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72585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  <c:pt idx="5">
                  <c:v>SC</c:v>
                </c:pt>
                <c:pt idx="6">
                  <c:v>BA</c:v>
                </c:pt>
                <c:pt idx="7">
                  <c:v>DF</c:v>
                </c:pt>
                <c:pt idx="8">
                  <c:v>GO</c:v>
                </c:pt>
                <c:pt idx="9">
                  <c:v>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5134</c:v>
                </c:pt>
                <c:pt idx="1">
                  <c:v>1800</c:v>
                </c:pt>
                <c:pt idx="2">
                  <c:v>1566</c:v>
                </c:pt>
                <c:pt idx="3">
                  <c:v>741</c:v>
                </c:pt>
                <c:pt idx="4">
                  <c:v>675</c:v>
                </c:pt>
                <c:pt idx="5">
                  <c:v>513</c:v>
                </c:pt>
                <c:pt idx="6">
                  <c:v>505</c:v>
                </c:pt>
                <c:pt idx="7">
                  <c:v>300</c:v>
                </c:pt>
                <c:pt idx="8">
                  <c:v>286</c:v>
                </c:pt>
                <c:pt idx="9">
                  <c:v>273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A8B8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A8B8C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ad3c70d-de4a-4af8-9d3f-836d51886e61}"/>
      </c:ext>
    </c:extLst>
  </c:chart>
  <c:spPr>
    <a:solidFill>
      <a:srgbClr val="0A162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3" name="Shape 1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-914400"/>
            <a:ext cx="4572000" cy="4572000"/>
          </a:xfrm>
          <a:prstGeom prst="ellipse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</p:spPr>
      </p:sp>
      <p:sp>
        <p:nvSpPr>
          <p:cNvPr id="6" name="Text 4"/>
          <p:cNvSpPr/>
          <p:nvPr/>
        </p:nvSpPr>
        <p:spPr>
          <a:xfrm>
            <a:off x="457200" y="45720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DATA ANALYSIS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E-Commerce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Sales Analysis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5486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3346450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8CC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Menganalisis 111,023 transaksi e-commerce</a:t>
            </a:r>
            <a:endParaRPr lang="en-US" sz="1300" dirty="0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8CC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Brazil menggunakan dataset Olist</a:t>
            </a:r>
            <a:endParaRPr lang="en-US" sz="13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</p:spPr>
      </p:sp>
      <p:sp>
        <p:nvSpPr>
          <p:cNvPr id="12" name="Text 10"/>
          <p:cNvSpPr/>
          <p:nvPr/>
        </p:nvSpPr>
        <p:spPr>
          <a:xfrm>
            <a:off x="457200" y="4343400"/>
            <a:ext cx="1554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Python</a:t>
            </a:r>
            <a:endParaRPr lang="en-US" sz="950" b="1" dirty="0">
              <a:solidFill>
                <a:srgbClr val="00C6FF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48840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</p:spPr>
      </p:sp>
      <p:sp>
        <p:nvSpPr>
          <p:cNvPr id="14" name="Text 12"/>
          <p:cNvSpPr/>
          <p:nvPr/>
        </p:nvSpPr>
        <p:spPr>
          <a:xfrm>
            <a:off x="2148840" y="4343400"/>
            <a:ext cx="1554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Pandas</a:t>
            </a:r>
            <a:endParaRPr lang="en-US" sz="950" b="1" dirty="0">
              <a:solidFill>
                <a:srgbClr val="00C6FF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0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</p:spPr>
        <p:txBody>
          <a:bodyPr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4343400"/>
            <a:ext cx="1554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Matplotlib</a:t>
            </a:r>
            <a:endParaRPr lang="en-US" sz="95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81888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</p:spPr>
      </p:sp>
      <p:sp>
        <p:nvSpPr>
          <p:cNvPr id="18" name="Text 16"/>
          <p:cNvSpPr/>
          <p:nvPr/>
        </p:nvSpPr>
        <p:spPr>
          <a:xfrm>
            <a:off x="457200" y="4818888"/>
            <a:ext cx="1554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Seaborn</a:t>
            </a:r>
            <a:endParaRPr lang="en-US" sz="950" b="1" dirty="0">
              <a:solidFill>
                <a:srgbClr val="00C6FF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148840" y="481888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</p:spPr>
      </p:sp>
      <p:sp>
        <p:nvSpPr>
          <p:cNvPr id="20" name="Text 18"/>
          <p:cNvSpPr/>
          <p:nvPr/>
        </p:nvSpPr>
        <p:spPr>
          <a:xfrm>
            <a:off x="2148840" y="4818888"/>
            <a:ext cx="1554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Google Colab</a:t>
            </a:r>
            <a:endParaRPr lang="en-US" sz="950" b="1" dirty="0">
              <a:solidFill>
                <a:srgbClr val="00C6FF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0" y="2560320"/>
            <a:ext cx="1645920" cy="1645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1 / 7</a:t>
            </a:r>
            <a:endParaRPr lang="en-US" sz="900" dirty="0"/>
          </a:p>
        </p:txBody>
      </p:sp>
      <p:sp>
        <p:nvSpPr>
          <p:cNvPr id="23" name="Text Box 22"/>
          <p:cNvSpPr txBox="1"/>
          <p:nvPr/>
        </p:nvSpPr>
        <p:spPr>
          <a:xfrm>
            <a:off x="0" y="6428105"/>
            <a:ext cx="1536700" cy="300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endParaRPr lang="en-US" sz="950" b="1" dirty="0">
              <a:solidFill>
                <a:srgbClr val="00C6FF"/>
              </a:solidFill>
              <a:latin typeface="Arial Rounded MT Bold" panose="020F0704030504030204" charset="0"/>
              <a:cs typeface="Arial Rounded MT Bold" panose="020F0704030504030204" charset="0"/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2583180" y="6445250"/>
            <a:ext cx="4069715" cy="324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900" dirty="0">
                <a:solidFill>
                  <a:srgbClr val="A8B8CC"/>
                </a:solidFill>
                <a:sym typeface="+mn-ea"/>
              </a:rPr>
              <a:t>by Keisha Aulia  |  #DataAnalytics #Python #DataScience #Portfolio #EDA #Olist </a:t>
            </a:r>
            <a:endParaRPr lang="en-US" sz="900" dirty="0">
              <a:solidFill>
                <a:srgbClr val="A8B8C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3" name="Text 1"/>
          <p:cNvSpPr/>
          <p:nvPr/>
        </p:nvSpPr>
        <p:spPr>
          <a:xfrm>
            <a:off x="7827010" y="274320"/>
            <a:ext cx="8915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15900" y="2286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Tentang Dataset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490" y="82296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Olist Brazilian E-Commerce Dataset</a:t>
            </a:r>
            <a:endParaRPr lang="en-US" sz="13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7490" y="1234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Dataset Olist adalah kumpulan data e-commerce terbesar di Brazil, mencakup transaksi dari tahun 2016 hingga 2018. Data ini terdiri dari beberapa file CSV yang di-merge menjadi satu dataframe untuk dianalisis secara komprehensif.</a:t>
            </a:r>
            <a:endParaRPr lang="en-US" sz="115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993392" cy="1234440"/>
          </a:xfrm>
          <a:prstGeom prst="roundRect">
            <a:avLst>
              <a:gd name="adj" fmla="val 8889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1993392" cy="54864"/>
          </a:xfrm>
          <a:prstGeom prst="rect">
            <a:avLst/>
          </a:prstGeom>
          <a:solidFill>
            <a:srgbClr val="00C6FF"/>
          </a:solidFill>
        </p:spPr>
      </p:sp>
      <p:sp>
        <p:nvSpPr>
          <p:cNvPr id="9" name="Text 7"/>
          <p:cNvSpPr/>
          <p:nvPr/>
        </p:nvSpPr>
        <p:spPr>
          <a:xfrm>
            <a:off x="457200" y="2441448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111,023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Total Transaks</a:t>
            </a:r>
            <a:r>
              <a:rPr lang="en-US" sz="900" dirty="0">
                <a:solidFill>
                  <a:srgbClr val="A8B8CC"/>
                </a:solidFill>
              </a:rPr>
              <a:t>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33472" y="2240280"/>
            <a:ext cx="1993392" cy="1234440"/>
          </a:xfrm>
          <a:prstGeom prst="roundRect">
            <a:avLst>
              <a:gd name="adj" fmla="val 8889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33472" y="2240280"/>
            <a:ext cx="1993392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3" name="Text 11"/>
          <p:cNvSpPr/>
          <p:nvPr/>
        </p:nvSpPr>
        <p:spPr>
          <a:xfrm>
            <a:off x="2633472" y="2441448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97,256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33472" y="3154680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Unique Orders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09744" y="2240280"/>
            <a:ext cx="1993392" cy="1234440"/>
          </a:xfrm>
          <a:prstGeom prst="roundRect">
            <a:avLst>
              <a:gd name="adj" fmla="val 8889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2240280"/>
            <a:ext cx="1993392" cy="54864"/>
          </a:xfrm>
          <a:prstGeom prst="rect">
            <a:avLst/>
          </a:prstGeom>
          <a:solidFill>
            <a:srgbClr val="FFB703"/>
          </a:solidFill>
        </p:spPr>
      </p:sp>
      <p:sp>
        <p:nvSpPr>
          <p:cNvPr id="17" name="Text 15"/>
          <p:cNvSpPr/>
          <p:nvPr/>
        </p:nvSpPr>
        <p:spPr>
          <a:xfrm>
            <a:off x="4809744" y="2441448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9744" y="3154680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Total Kolom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86016" y="2240280"/>
            <a:ext cx="1993392" cy="1234440"/>
          </a:xfrm>
          <a:prstGeom prst="roundRect">
            <a:avLst>
              <a:gd name="adj" fmla="val 8889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86016" y="2240280"/>
            <a:ext cx="1993392" cy="54864"/>
          </a:xfrm>
          <a:prstGeom prst="rect">
            <a:avLst/>
          </a:prstGeom>
          <a:solidFill>
            <a:srgbClr val="7B2FBE"/>
          </a:solidFill>
        </p:spPr>
      </p:sp>
      <p:sp>
        <p:nvSpPr>
          <p:cNvPr id="21" name="Text 19"/>
          <p:cNvSpPr/>
          <p:nvPr/>
        </p:nvSpPr>
        <p:spPr>
          <a:xfrm>
            <a:off x="6986016" y="2441448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2FB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2016-18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6016" y="3154680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Periode Data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2900" y="3703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Pipeline Analisis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0976" y="4160520"/>
            <a:ext cx="640080" cy="640080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25" name="Text 23"/>
          <p:cNvSpPr/>
          <p:nvPr/>
        </p:nvSpPr>
        <p:spPr>
          <a:xfrm>
            <a:off x="950976" y="4160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1608455" y="4470400"/>
            <a:ext cx="1025525" cy="10160"/>
          </a:xfrm>
          <a:prstGeom prst="line">
            <a:avLst/>
          </a:prstGeom>
          <a:noFill/>
          <a:ln w="19050">
            <a:solidFill>
              <a:srgbClr val="A8B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16276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Load &amp; Merge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Data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633218" y="4160520"/>
            <a:ext cx="640080" cy="640080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29" name="Text 27"/>
          <p:cNvSpPr/>
          <p:nvPr/>
        </p:nvSpPr>
        <p:spPr>
          <a:xfrm>
            <a:off x="2670048" y="4160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76272" y="4864608"/>
            <a:ext cx="16276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Eksplorasi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Data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89120" y="4160520"/>
            <a:ext cx="640080" cy="640080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33" name="Text 31"/>
          <p:cNvSpPr/>
          <p:nvPr/>
        </p:nvSpPr>
        <p:spPr>
          <a:xfrm>
            <a:off x="4389120" y="4160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66030" y="4480560"/>
            <a:ext cx="1047750" cy="10160"/>
          </a:xfrm>
          <a:prstGeom prst="line">
            <a:avLst/>
          </a:prstGeom>
          <a:noFill/>
          <a:ln w="19050">
            <a:solidFill>
              <a:srgbClr val="A8B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5344" y="4864608"/>
            <a:ext cx="16276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Data Cleaning &amp;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Feature Eng.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08192" y="4160520"/>
            <a:ext cx="640080" cy="640080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37" name="Text 35"/>
          <p:cNvSpPr/>
          <p:nvPr/>
        </p:nvSpPr>
        <p:spPr>
          <a:xfrm>
            <a:off x="6108192" y="4160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84975" y="4480560"/>
            <a:ext cx="1042035" cy="10160"/>
          </a:xfrm>
          <a:prstGeom prst="line">
            <a:avLst/>
          </a:prstGeom>
          <a:noFill/>
          <a:ln w="19050">
            <a:solidFill>
              <a:srgbClr val="A8B8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4864608"/>
            <a:ext cx="16276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Analisis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KPI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827264" y="4160520"/>
            <a:ext cx="640080" cy="640080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41" name="Text 39"/>
          <p:cNvSpPr/>
          <p:nvPr/>
        </p:nvSpPr>
        <p:spPr>
          <a:xfrm>
            <a:off x="7827264" y="4160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33488" y="4864608"/>
            <a:ext cx="16276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Visualisasi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Dashboard</a:t>
            </a:r>
            <a:endParaRPr lang="en-US" sz="1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2 / 7</a:t>
            </a:r>
            <a:endParaRPr lang="en-US" sz="900" dirty="0"/>
          </a:p>
        </p:txBody>
      </p:sp>
      <p:sp>
        <p:nvSpPr>
          <p:cNvPr id="44" name="Shape 24"/>
          <p:cNvSpPr/>
          <p:nvPr/>
        </p:nvSpPr>
        <p:spPr>
          <a:xfrm flipV="1">
            <a:off x="3273425" y="4480560"/>
            <a:ext cx="1025525" cy="10160"/>
          </a:xfrm>
          <a:prstGeom prst="line">
            <a:avLst/>
          </a:prstGeom>
          <a:noFill/>
          <a:ln w="19050">
            <a:solidFill>
              <a:srgbClr val="A8B8CC"/>
            </a:solidFill>
            <a:prstDash val="solid"/>
          </a:ln>
        </p:spPr>
      </p:sp>
      <p:sp>
        <p:nvSpPr>
          <p:cNvPr id="45" name="Text Box 44"/>
          <p:cNvSpPr txBox="1"/>
          <p:nvPr/>
        </p:nvSpPr>
        <p:spPr>
          <a:xfrm>
            <a:off x="2670175" y="6409690"/>
            <a:ext cx="3975100" cy="267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900" dirty="0">
                <a:solidFill>
                  <a:srgbClr val="A8B8CC"/>
                </a:solidFill>
                <a:sym typeface="+mn-ea"/>
              </a:rPr>
              <a:t>by Keisha Aulia  |  #DataAnalytics #Python #DataScience #Portfolio #EDA #Olist </a:t>
            </a:r>
            <a:endParaRPr lang="en-US" sz="900" dirty="0">
              <a:solidFill>
                <a:srgbClr val="A8B8C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" name="Text 1"/>
          <p:cNvSpPr/>
          <p:nvPr/>
        </p:nvSpPr>
        <p:spPr>
          <a:xfrm>
            <a:off x="7790180" y="274320"/>
            <a:ext cx="91757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KPI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Arial Rounded MT Bold" panose="020F0704030504030204" charset="0"/>
                <a:cs typeface="Arial Rounded MT Bold" panose="020F0704030504030204" charset="0"/>
              </a:rPr>
              <a:t>Ringkasan performa bisnis keseluruhan</a:t>
            </a:r>
            <a:endParaRPr lang="en-US" sz="13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25880"/>
            <a:ext cx="2606040" cy="54864"/>
          </a:xfrm>
          <a:prstGeom prst="rect">
            <a:avLst/>
          </a:prstGeom>
          <a:solidFill>
            <a:srgbClr val="00C6FF"/>
          </a:solidFill>
        </p:spPr>
      </p:sp>
      <p:sp>
        <p:nvSpPr>
          <p:cNvPr id="8" name="Text 6"/>
          <p:cNvSpPr/>
          <p:nvPr/>
        </p:nvSpPr>
        <p:spPr>
          <a:xfrm>
            <a:off x="347472" y="1828673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$13.4M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Total Revenue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325880"/>
            <a:ext cx="2606040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2" name="Text 10"/>
          <p:cNvSpPr/>
          <p:nvPr/>
        </p:nvSpPr>
        <p:spPr>
          <a:xfrm>
            <a:off x="3182112" y="1760093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$458K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82112" y="26060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Total Profit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16752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6752" y="1325880"/>
            <a:ext cx="2606040" cy="54864"/>
          </a:xfrm>
          <a:prstGeom prst="rect">
            <a:avLst/>
          </a:prstGeom>
          <a:solidFill>
            <a:srgbClr val="FFB703"/>
          </a:solidFill>
        </p:spPr>
      </p:sp>
      <p:sp>
        <p:nvSpPr>
          <p:cNvPr id="16" name="Text 14"/>
          <p:cNvSpPr/>
          <p:nvPr/>
        </p:nvSpPr>
        <p:spPr>
          <a:xfrm>
            <a:off x="6016752" y="17683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97,256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16752" y="26060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Total Orders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" y="31546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154680"/>
            <a:ext cx="2606040" cy="54864"/>
          </a:xfrm>
          <a:prstGeom prst="rect">
            <a:avLst/>
          </a:prstGeom>
          <a:solidFill>
            <a:srgbClr val="7B2FBE"/>
          </a:solidFill>
        </p:spPr>
      </p:sp>
      <p:sp>
        <p:nvSpPr>
          <p:cNvPr id="20" name="Text 18"/>
          <p:cNvSpPr/>
          <p:nvPr/>
        </p:nvSpPr>
        <p:spPr>
          <a:xfrm>
            <a:off x="347472" y="36225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2FB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$137.85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44348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Avg Order Value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82112" y="31546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3154680"/>
            <a:ext cx="2606040" cy="54864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24" name="Text 22"/>
          <p:cNvSpPr/>
          <p:nvPr/>
        </p:nvSpPr>
        <p:spPr>
          <a:xfrm>
            <a:off x="3182112" y="3668903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3.4%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182112" y="44348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Profit Margin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16752" y="31546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204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16752" y="3154680"/>
            <a:ext cx="2606040" cy="54864"/>
          </a:xfrm>
          <a:prstGeom prst="rect">
            <a:avLst/>
          </a:prstGeom>
          <a:solidFill>
            <a:srgbClr val="9B5DE5"/>
          </a:solidFill>
        </p:spPr>
      </p:sp>
      <p:sp>
        <p:nvSpPr>
          <p:cNvPr id="28" name="Text 26"/>
          <p:cNvSpPr/>
          <p:nvPr/>
        </p:nvSpPr>
        <p:spPr>
          <a:xfrm>
            <a:off x="6016752" y="3672713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DE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43.3%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16752" y="443484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% Profitable Trans</a:t>
            </a:r>
            <a:endParaRPr lang="en-US" sz="9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7345" y="5139055"/>
            <a:ext cx="8449310" cy="1347470"/>
          </a:xfrm>
          <a:prstGeom prst="roundRect">
            <a:avLst>
              <a:gd name="adj" fmla="val 8000"/>
            </a:avLst>
          </a:prstGeom>
          <a:solidFill>
            <a:srgbClr val="0F2040"/>
          </a:solidFill>
        </p:spPr>
      </p:sp>
      <p:sp>
        <p:nvSpPr>
          <p:cNvPr id="31" name="Shape 29"/>
          <p:cNvSpPr/>
          <p:nvPr/>
        </p:nvSpPr>
        <p:spPr>
          <a:xfrm>
            <a:off x="347472" y="5138928"/>
            <a:ext cx="73152" cy="1371600"/>
          </a:xfrm>
          <a:prstGeom prst="rect">
            <a:avLst/>
          </a:prstGeom>
          <a:solidFill>
            <a:srgbClr val="00C6FF"/>
          </a:solidFill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40" y="5416423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97280" y="5230495"/>
            <a:ext cx="196786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Key Insight :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97280" y="5577205"/>
            <a:ext cx="7498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Profit margin 3.4% terbilang rendah,  hanya 43% transaksi yang profitable. Biaya freight (pengiriman) yang tinggi menjadi tantangan utama profitabilitas Olist.</a:t>
            </a:r>
            <a:endParaRPr lang="en-US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703"/>
          </a:solidFill>
        </p:spPr>
      </p:sp>
      <p:sp>
        <p:nvSpPr>
          <p:cNvPr id="3" name="Text 1"/>
          <p:cNvSpPr/>
          <p:nvPr/>
        </p:nvSpPr>
        <p:spPr>
          <a:xfrm>
            <a:off x="7914005" y="228600"/>
            <a:ext cx="95567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Top Kategori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01700" y="822960"/>
            <a:ext cx="26549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703"/>
                </a:solidFill>
                <a:latin typeface="Arial Rounded MT Bold" panose="020F0704030504030204" charset="0"/>
                <a:cs typeface="Arial Rounded MT Bold" panose="020F0704030504030204" charset="0"/>
              </a:rPr>
              <a:t>Revenue by product category</a:t>
            </a:r>
            <a:endParaRPr lang="en-US" sz="13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4672"/>
            <a:ext cx="365760" cy="36576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274320" y="1234440"/>
          <a:ext cx="859536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" name="Text 1"/>
          <p:cNvSpPr/>
          <p:nvPr/>
        </p:nvSpPr>
        <p:spPr>
          <a:xfrm>
            <a:off x="7927340" y="219075"/>
            <a:ext cx="1036320" cy="10788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4000" b="1" dirty="0">
              <a:solidFill>
                <a:srgbClr val="1A3A5C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Regional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3124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Arial Rounded MT Bold" panose="020F0704030504030204" charset="0"/>
                <a:cs typeface="Arial Rounded MT Bold" panose="020F0704030504030204" charset="0"/>
              </a:rPr>
              <a:t>Profitabilitas per state (Brazil)</a:t>
            </a:r>
            <a:endParaRPr lang="en-US" sz="13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4672"/>
            <a:ext cx="365760" cy="36576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274320" y="1234440"/>
          <a:ext cx="50292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486400" y="1325880"/>
            <a:ext cx="3291840" cy="1508760"/>
          </a:xfrm>
          <a:prstGeom prst="roundRect">
            <a:avLst>
              <a:gd name="adj" fmla="val 6061"/>
            </a:avLst>
          </a:prstGeom>
          <a:solidFill>
            <a:srgbClr val="0F2040"/>
          </a:solidFill>
        </p:spPr>
      </p:sp>
      <p:sp>
        <p:nvSpPr>
          <p:cNvPr id="9" name="Shape 5"/>
          <p:cNvSpPr/>
          <p:nvPr/>
        </p:nvSpPr>
        <p:spPr>
          <a:xfrm>
            <a:off x="5486400" y="1325880"/>
            <a:ext cx="64008" cy="1508760"/>
          </a:xfrm>
          <a:prstGeom prst="rect">
            <a:avLst/>
          </a:prstGeom>
          <a:solidFill>
            <a:srgbClr val="00C6FF"/>
          </a:solidFill>
        </p:spPr>
      </p:sp>
      <p:sp>
        <p:nvSpPr>
          <p:cNvPr id="10" name="Text 6"/>
          <p:cNvSpPr/>
          <p:nvPr/>
        </p:nvSpPr>
        <p:spPr>
          <a:xfrm>
            <a:off x="5669280" y="1463040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SP dominasi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669280" y="1810385"/>
            <a:ext cx="268541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~38% dari total revenue nasional</a:t>
            </a:r>
            <a:endParaRPr lang="en-US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0" y="3044952"/>
            <a:ext cx="3291840" cy="1508760"/>
          </a:xfrm>
          <a:prstGeom prst="roundRect">
            <a:avLst>
              <a:gd name="adj" fmla="val 6061"/>
            </a:avLst>
          </a:prstGeom>
          <a:solidFill>
            <a:srgbClr val="0F2040"/>
          </a:solidFill>
        </p:spPr>
      </p:sp>
      <p:sp>
        <p:nvSpPr>
          <p:cNvPr id="13" name="Shape 9"/>
          <p:cNvSpPr/>
          <p:nvPr/>
        </p:nvSpPr>
        <p:spPr>
          <a:xfrm>
            <a:off x="5486400" y="3044952"/>
            <a:ext cx="64008" cy="150876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4" name="Text 10"/>
          <p:cNvSpPr/>
          <p:nvPr/>
        </p:nvSpPr>
        <p:spPr>
          <a:xfrm>
            <a:off x="5669280" y="318211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Top 3 states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669280" y="3529584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SP + RJ + MG = 76% revenue</a:t>
            </a:r>
            <a:endParaRPr lang="en-US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0" y="4764024"/>
            <a:ext cx="3291840" cy="1508760"/>
          </a:xfrm>
          <a:prstGeom prst="roundRect">
            <a:avLst>
              <a:gd name="adj" fmla="val 6061"/>
            </a:avLst>
          </a:prstGeom>
          <a:solidFill>
            <a:srgbClr val="0F2040"/>
          </a:solidFill>
        </p:spPr>
      </p:sp>
      <p:sp>
        <p:nvSpPr>
          <p:cNvPr id="17" name="Shape 13"/>
          <p:cNvSpPr/>
          <p:nvPr/>
        </p:nvSpPr>
        <p:spPr>
          <a:xfrm>
            <a:off x="5486400" y="4764024"/>
            <a:ext cx="64008" cy="1508760"/>
          </a:xfrm>
          <a:prstGeom prst="rect">
            <a:avLst/>
          </a:prstGeom>
          <a:solidFill>
            <a:srgbClr val="FFB703"/>
          </a:solidFill>
        </p:spPr>
      </p:sp>
      <p:sp>
        <p:nvSpPr>
          <p:cNvPr id="18" name="Text 14"/>
          <p:cNvSpPr/>
          <p:nvPr/>
        </p:nvSpPr>
        <p:spPr>
          <a:xfrm>
            <a:off x="5669280" y="4901184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BA margin rendah</a:t>
            </a:r>
            <a:endParaRPr lang="en-US" sz="1400" b="1" dirty="0">
              <a:solidFill>
                <a:srgbClr val="FFB703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669280" y="5248656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Profit hanya $2.4K dari $505K sales</a:t>
            </a:r>
            <a:endParaRPr lang="en-US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BE"/>
          </a:solidFill>
        </p:spPr>
      </p:sp>
      <p:sp>
        <p:nvSpPr>
          <p:cNvPr id="3" name="Text 1"/>
          <p:cNvSpPr/>
          <p:nvPr/>
        </p:nvSpPr>
        <p:spPr>
          <a:xfrm>
            <a:off x="7853680" y="283210"/>
            <a:ext cx="94297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84FC"/>
                </a:solidFill>
                <a:latin typeface="Arial Rounded MT Bold" panose="020F0704030504030204" charset="0"/>
                <a:cs typeface="Arial Rounded MT Bold" panose="020F0704030504030204" charset="0"/>
              </a:rPr>
              <a:t>5 temuan utama dari analisis</a:t>
            </a:r>
            <a:endParaRPr lang="en-US" sz="13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8449056" cy="987552"/>
          </a:xfrm>
          <a:prstGeom prst="roundRect">
            <a:avLst>
              <a:gd name="adj" fmla="val 9259"/>
            </a:avLst>
          </a:prstGeom>
          <a:solidFill>
            <a:srgbClr val="0F2040"/>
          </a:solidFill>
        </p:spPr>
      </p:sp>
      <p:sp>
        <p:nvSpPr>
          <p:cNvPr id="7" name="Shape 5"/>
          <p:cNvSpPr/>
          <p:nvPr/>
        </p:nvSpPr>
        <p:spPr>
          <a:xfrm>
            <a:off x="347472" y="1325880"/>
            <a:ext cx="64008" cy="987552"/>
          </a:xfrm>
          <a:prstGeom prst="rect">
            <a:avLst/>
          </a:prstGeom>
          <a:solidFill>
            <a:srgbClr val="FFB703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704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17320"/>
            <a:ext cx="7223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Health &amp; Beauty #1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34440" y="1764538"/>
            <a:ext cx="7223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Revenue tertinggi $1.28M. Produk kecantikan sangat diminati konsumen Brazil</a:t>
            </a:r>
            <a:r>
              <a:rPr lang="en-US" sz="1000" dirty="0">
                <a:solidFill>
                  <a:srgbClr val="A8B8CC"/>
                </a:solidFill>
              </a:rPr>
              <a:t>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2423160"/>
            <a:ext cx="8449056" cy="987552"/>
          </a:xfrm>
          <a:prstGeom prst="roundRect">
            <a:avLst>
              <a:gd name="adj" fmla="val 9259"/>
            </a:avLst>
          </a:prstGeom>
          <a:solidFill>
            <a:srgbClr val="0F2040"/>
          </a:solidFill>
        </p:spPr>
      </p:sp>
      <p:sp>
        <p:nvSpPr>
          <p:cNvPr id="12" name="Shape 9"/>
          <p:cNvSpPr/>
          <p:nvPr/>
        </p:nvSpPr>
        <p:spPr>
          <a:xfrm>
            <a:off x="347472" y="2423160"/>
            <a:ext cx="64008" cy="987552"/>
          </a:xfrm>
          <a:prstGeom prst="rect">
            <a:avLst/>
          </a:prstGeom>
          <a:solidFill>
            <a:srgbClr val="E6394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432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514600"/>
            <a:ext cx="7223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Furniture Decor Paling Rugi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234440" y="2898648"/>
            <a:ext cx="7223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Kerugian -$26,796. Ukuran besar membuat biaya freight tinggi menggerus profit</a:t>
            </a:r>
            <a:r>
              <a:rPr lang="en-US" sz="1200" dirty="0">
                <a:solidFill>
                  <a:srgbClr val="A8B8CC"/>
                </a:solidFill>
              </a:rPr>
              <a:t>.</a:t>
            </a:r>
            <a:endParaRPr lang="en-US" sz="1200" dirty="0">
              <a:solidFill>
                <a:srgbClr val="A8B8CC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47472" y="3520440"/>
            <a:ext cx="8449056" cy="987552"/>
          </a:xfrm>
          <a:prstGeom prst="roundRect">
            <a:avLst>
              <a:gd name="adj" fmla="val 9259"/>
            </a:avLst>
          </a:prstGeom>
          <a:solidFill>
            <a:srgbClr val="0F2040"/>
          </a:solidFill>
        </p:spPr>
      </p:sp>
      <p:sp>
        <p:nvSpPr>
          <p:cNvPr id="17" name="Shape 13"/>
          <p:cNvSpPr/>
          <p:nvPr/>
        </p:nvSpPr>
        <p:spPr>
          <a:xfrm>
            <a:off x="347472" y="3520440"/>
            <a:ext cx="64008" cy="987552"/>
          </a:xfrm>
          <a:prstGeom prst="rect">
            <a:avLst/>
          </a:prstGeom>
          <a:solidFill>
            <a:srgbClr val="2EC4B6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2160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611880"/>
            <a:ext cx="7223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SP Dominasi 38% Revenue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234440" y="3995928"/>
            <a:ext cx="7223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Sao Paulo ($5.1M) jauh melampaui state lain sebagai pusat ekonomi Brazil.</a:t>
            </a:r>
            <a:endParaRPr lang="en-US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47472" y="4617720"/>
            <a:ext cx="8449056" cy="987552"/>
          </a:xfrm>
          <a:prstGeom prst="roundRect">
            <a:avLst>
              <a:gd name="adj" fmla="val 9259"/>
            </a:avLst>
          </a:prstGeom>
          <a:solidFill>
            <a:srgbClr val="0F2040"/>
          </a:solidFill>
        </p:spPr>
      </p:sp>
      <p:sp>
        <p:nvSpPr>
          <p:cNvPr id="22" name="Shape 17"/>
          <p:cNvSpPr/>
          <p:nvPr/>
        </p:nvSpPr>
        <p:spPr>
          <a:xfrm>
            <a:off x="347472" y="4617720"/>
            <a:ext cx="64008" cy="987552"/>
          </a:xfrm>
          <a:prstGeom prst="rect">
            <a:avLst/>
          </a:prstGeom>
          <a:solidFill>
            <a:srgbClr val="00C6FF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1888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4709160"/>
            <a:ext cx="7223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Freight = Masalah Utama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234440" y="5093208"/>
            <a:ext cx="7223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</a:rPr>
              <a:t>Hanya 43.3% transaksi profitable. Biaya pengiriman perlu dioptimasi.</a:t>
            </a:r>
            <a:endParaRPr lang="en-US" sz="1200" dirty="0">
              <a:solidFill>
                <a:srgbClr val="A8B8CC"/>
              </a:solidFill>
            </a:endParaRPr>
          </a:p>
        </p:txBody>
      </p:sp>
      <p:sp>
        <p:nvSpPr>
          <p:cNvPr id="26" name="Shape 20"/>
          <p:cNvSpPr/>
          <p:nvPr/>
        </p:nvSpPr>
        <p:spPr>
          <a:xfrm>
            <a:off x="347472" y="5715000"/>
            <a:ext cx="8449056" cy="987552"/>
          </a:xfrm>
          <a:prstGeom prst="roundRect">
            <a:avLst>
              <a:gd name="adj" fmla="val 9259"/>
            </a:avLst>
          </a:prstGeom>
          <a:solidFill>
            <a:srgbClr val="0F2040"/>
          </a:solidFill>
        </p:spPr>
      </p:sp>
      <p:sp>
        <p:nvSpPr>
          <p:cNvPr id="27" name="Shape 21"/>
          <p:cNvSpPr/>
          <p:nvPr/>
        </p:nvSpPr>
        <p:spPr>
          <a:xfrm>
            <a:off x="347472" y="5715000"/>
            <a:ext cx="64008" cy="987552"/>
          </a:xfrm>
          <a:prstGeom prst="rect">
            <a:avLst/>
          </a:prstGeom>
          <a:solidFill>
            <a:srgbClr val="7B2FBE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916168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5806440"/>
            <a:ext cx="7223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Top Customer Loyal</a:t>
            </a:r>
            <a:endParaRPr lang="en-US" sz="1400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1234440" y="6190488"/>
            <a:ext cx="7223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  <a:latin typeface="Arial Rounded MT Bold" panose="020F0704030504030204" charset="0"/>
                <a:cs typeface="Arial Rounded MT Bold" panose="020F0704030504030204" charset="0"/>
              </a:rPr>
              <a:t>Customer terbaik: 8 transaksi dengan total spend $13,440, peluang loyalty program.</a:t>
            </a:r>
            <a:endParaRPr lang="en-US" sz="1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Stay Tune For Next Knowledge !</a:t>
            </a:r>
            <a:endParaRPr lang="en-US" sz="3800" b="1" dirty="0">
              <a:solidFill>
                <a:srgbClr val="00C6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sz="3800" b="1" dirty="0">
                <a:solidFill>
                  <a:srgbClr val="00C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Thank You </a:t>
            </a:r>
            <a:endParaRPr lang="en-US" sz="3800" dirty="0"/>
          </a:p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Let's Connect &amp; Discuss!</a:t>
            </a:r>
            <a:endParaRPr lang="en-US" sz="20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13254" y="3310255"/>
            <a:ext cx="13533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4536" y="3310255"/>
            <a:ext cx="13533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4536" y="3820668"/>
            <a:ext cx="13533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820" y="4572000"/>
            <a:ext cx="1510665" cy="151066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</a:rPr>
              <a:t>by Keisha Aulia  |  #DataAnalytics #Python #DataScience #Portfolio #EDA #Olist  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46720" y="6537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8CC"/>
                </a:solidFill>
              </a:rPr>
              <a:t>7 / 7</a:t>
            </a:r>
            <a:endParaRPr lang="en-US" sz="900" dirty="0"/>
          </a:p>
        </p:txBody>
      </p:sp>
      <p:sp>
        <p:nvSpPr>
          <p:cNvPr id="22" name="Shape 1"/>
          <p:cNvSpPr/>
          <p:nvPr/>
        </p:nvSpPr>
        <p:spPr>
          <a:xfrm>
            <a:off x="8046720" y="137160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Shape 0"/>
          <p:cNvSpPr/>
          <p:nvPr/>
        </p:nvSpPr>
        <p:spPr>
          <a:xfrm>
            <a:off x="-1097280" y="5029200"/>
            <a:ext cx="3200400" cy="3200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E856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2058</Words>
  <Application>WPS Presentation</Application>
  <PresentationFormat>On-screen Show (16:9)</PresentationFormat>
  <Paragraphs>182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 Black</vt:lpstr>
      <vt:lpstr>Arial Black</vt:lpstr>
      <vt:lpstr>Arial Black</vt:lpstr>
      <vt:lpstr>Arial Rounded MT Bold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WPS_1704852697</cp:lastModifiedBy>
  <cp:revision>3</cp:revision>
  <dcterms:created xsi:type="dcterms:W3CDTF">2026-05-15T08:46:00Z</dcterms:created>
  <dcterms:modified xsi:type="dcterms:W3CDTF">2026-05-15T18:44:02Z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AF0321B0901C4DCD9A66E0F225AF3870_12</vt:lpwstr>
  </property>
</Properties>
</file>